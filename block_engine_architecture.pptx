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the Block-Image Game Engine — a novel architecture where the game world is stored as a flat block image on NVMe storage. Player position maps directly to a byte offset. There is no streaming middleware, no game database, no world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all major components: external sources at the top (game studio, thin client, AI tick, replica nodes, cloud storage, health monitor), the engine core in the middle (mutation engine, block layout, entity sidecar, render feed, lighting propagator, and the ResilientStore with its journal/SparseBlockStore/ReplicationManager sub-components), and the hardware layer at the bottom (RAM, NVMe Array A for writes, NVMe Array B for reads, block format, and the block state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path: The studio or AI tick triggers a write through the Mutation Engine. This journals the intent (crash-safe), writes to SparseBlockStore on Array A (NVMe), fans out to replica nodes for quorum, then asynchronously mirrors to Array B for the render feed. Block state transitions from PENDING → CLEAN → REPLICATED.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path: The thin client converts player position to a byte offset, the RenderFeed delivers only changed blocks at 20 Hz from Array B (never touching Array A), SHA-256 is verified on every read, and corrupt blocks recover from replicas. The right side shows key hardware design principles: 16-byte alignment, O(1) offset formula, dual-array write/read separation, and hardware-agnostic storage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external integration points: Game Studio uses world_gen.py CLI. Clients subscribe to a 20 Hz delta feed. AI/NPC systems call write_block and run the lighting propagator each tick. Replica nodes plug in via a sync_callback — the engine handles quorum and auto-healthchecks. Cloud block storage just needs a volume mounted; the flat image model is hardware-agnostic. The health monitor exposes write_seq lag and integrity scan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1645920"/>
            <a:ext cx="11064240" cy="1097280"/>
          </a:xfrm>
          <a:prstGeom prst="rect">
            <a:avLst/>
          </a:prstGeom>
          <a:noFill/>
          <a:ln/>
        </p:spPr>
        <p:txBody>
          <a:bodyPr wrap="square" rtlCol="0" anchor="ctr"/>
          <a:lstStyle/>
          <a:p>
            <a:pPr algn="ctr" indent="0" marL="0">
              <a:buNone/>
            </a:pPr>
            <a:r>
              <a:rPr lang="en-US" sz="5200" b="1" dirty="0">
                <a:solidFill>
                  <a:srgbClr val="F1F5F9"/>
                </a:solidFill>
                <a:latin typeface="Calibri" pitchFamily="34" charset="0"/>
                <a:ea typeface="Calibri" pitchFamily="34" charset="-122"/>
                <a:cs typeface="Calibri" pitchFamily="34" charset="-120"/>
              </a:rPr>
              <a:t>Block-Image Game Engine</a:t>
            </a:r>
            <a:endParaRPr lang="en-US" sz="5200" dirty="0"/>
          </a:p>
        </p:txBody>
      </p:sp>
      <p:sp>
        <p:nvSpPr>
          <p:cNvPr id="3" name="Text 1"/>
          <p:cNvSpPr/>
          <p:nvPr/>
        </p:nvSpPr>
        <p:spPr>
          <a:xfrm>
            <a:off x="548640" y="2834640"/>
            <a:ext cx="11064240" cy="640080"/>
          </a:xfrm>
          <a:prstGeom prst="rect">
            <a:avLst/>
          </a:prstGeom>
          <a:noFill/>
          <a:ln/>
        </p:spPr>
        <p:txBody>
          <a:bodyPr wrap="square" rtlCol="0" anchor="ctr"/>
          <a:lstStyle/>
          <a:p>
            <a:pPr algn="ctr" indent="0" marL="0">
              <a:buNone/>
            </a:pPr>
            <a:r>
              <a:rPr lang="en-US" sz="2800" dirty="0">
                <a:solidFill>
                  <a:srgbClr val="38BDF8"/>
                </a:solidFill>
                <a:latin typeface="Calibri" pitchFamily="34" charset="0"/>
                <a:ea typeface="Calibri" pitchFamily="34" charset="-122"/>
                <a:cs typeface="Calibri" pitchFamily="34" charset="-120"/>
              </a:rPr>
              <a:t>Architecture &amp; External Communication</a:t>
            </a:r>
            <a:endParaRPr lang="en-US" sz="2800" dirty="0"/>
          </a:p>
        </p:txBody>
      </p:sp>
      <p:sp>
        <p:nvSpPr>
          <p:cNvPr id="4" name="Text 2"/>
          <p:cNvSpPr/>
          <p:nvPr/>
        </p:nvSpPr>
        <p:spPr>
          <a:xfrm>
            <a:off x="914400" y="3657600"/>
            <a:ext cx="10332720" cy="548640"/>
          </a:xfrm>
          <a:prstGeom prst="rect">
            <a:avLst/>
          </a:prstGeom>
          <a:noFill/>
          <a:ln/>
        </p:spPr>
        <p:txBody>
          <a:bodyPr wrap="square" rtlCol="0" anchor="ctr"/>
          <a:lstStyle/>
          <a:p>
            <a:pPr algn="ctr" indent="0" marL="0">
              <a:buNone/>
            </a:pPr>
            <a:r>
              <a:rPr lang="en-US" sz="1700" dirty="0">
                <a:solidFill>
                  <a:srgbClr val="64748B"/>
                </a:solidFill>
                <a:latin typeface="Calibri" pitchFamily="34" charset="0"/>
                <a:ea typeface="Calibri" pitchFamily="34" charset="-122"/>
                <a:cs typeface="Calibri" pitchFamily="34" charset="-120"/>
              </a:rPr>
              <a:t>How hardware, the storage engine, and external sources like game studios interact</a:t>
            </a:r>
            <a:endParaRPr lang="en-US" sz="1700" dirty="0"/>
          </a:p>
        </p:txBody>
      </p:sp>
      <p:sp>
        <p:nvSpPr>
          <p:cNvPr id="5" name="Shape 3"/>
          <p:cNvSpPr/>
          <p:nvPr/>
        </p:nvSpPr>
        <p:spPr>
          <a:xfrm>
            <a:off x="1097280" y="4572000"/>
            <a:ext cx="2286000" cy="457200"/>
          </a:xfrm>
          <a:prstGeom prst="roundRect">
            <a:avLst>
              <a:gd name="adj" fmla="val 20000"/>
            </a:avLst>
          </a:prstGeom>
          <a:solidFill>
            <a:srgbClr val="7C3AED"/>
          </a:solidFill>
          <a:ln w="12700">
            <a:solidFill>
              <a:srgbClr val="7C3AED"/>
            </a:solidFill>
            <a:prstDash val="solid"/>
          </a:ln>
        </p:spPr>
      </p:sp>
      <p:sp>
        <p:nvSpPr>
          <p:cNvPr id="6" name="Text 4"/>
          <p:cNvSpPr/>
          <p:nvPr/>
        </p:nvSpPr>
        <p:spPr>
          <a:xfrm>
            <a:off x="1097280" y="4572000"/>
            <a:ext cx="22860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Storage IS the World</a:t>
            </a:r>
            <a:endParaRPr lang="en-US" sz="1200" dirty="0"/>
          </a:p>
        </p:txBody>
      </p:sp>
      <p:sp>
        <p:nvSpPr>
          <p:cNvPr id="7" name="Shape 5"/>
          <p:cNvSpPr/>
          <p:nvPr/>
        </p:nvSpPr>
        <p:spPr>
          <a:xfrm>
            <a:off x="3657600" y="4572000"/>
            <a:ext cx="2286000" cy="457200"/>
          </a:xfrm>
          <a:prstGeom prst="roundRect">
            <a:avLst>
              <a:gd name="adj" fmla="val 20000"/>
            </a:avLst>
          </a:prstGeom>
          <a:solidFill>
            <a:srgbClr val="0369A1"/>
          </a:solidFill>
          <a:ln w="12700">
            <a:solidFill>
              <a:srgbClr val="0369A1"/>
            </a:solidFill>
            <a:prstDash val="solid"/>
          </a:ln>
        </p:spPr>
      </p:sp>
      <p:sp>
        <p:nvSpPr>
          <p:cNvPr id="8" name="Text 6"/>
          <p:cNvSpPr/>
          <p:nvPr/>
        </p:nvSpPr>
        <p:spPr>
          <a:xfrm>
            <a:off x="3657600" y="4572000"/>
            <a:ext cx="22860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Direct Byte Offsets</a:t>
            </a:r>
            <a:endParaRPr lang="en-US" sz="1200" dirty="0"/>
          </a:p>
        </p:txBody>
      </p:sp>
      <p:sp>
        <p:nvSpPr>
          <p:cNvPr id="9" name="Shape 7"/>
          <p:cNvSpPr/>
          <p:nvPr/>
        </p:nvSpPr>
        <p:spPr>
          <a:xfrm>
            <a:off x="6217920" y="4572000"/>
            <a:ext cx="2286000" cy="457200"/>
          </a:xfrm>
          <a:prstGeom prst="roundRect">
            <a:avLst>
              <a:gd name="adj" fmla="val 20000"/>
            </a:avLst>
          </a:prstGeom>
          <a:solidFill>
            <a:srgbClr val="0F766E"/>
          </a:solidFill>
          <a:ln w="12700">
            <a:solidFill>
              <a:srgbClr val="0F766E"/>
            </a:solidFill>
            <a:prstDash val="solid"/>
          </a:ln>
        </p:spPr>
      </p:sp>
      <p:sp>
        <p:nvSpPr>
          <p:cNvPr id="10" name="Text 8"/>
          <p:cNvSpPr/>
          <p:nvPr/>
        </p:nvSpPr>
        <p:spPr>
          <a:xfrm>
            <a:off x="6217920" y="4572000"/>
            <a:ext cx="22860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Dual-Array Design</a:t>
            </a:r>
            <a:endParaRPr lang="en-US" sz="1200" dirty="0"/>
          </a:p>
        </p:txBody>
      </p:sp>
      <p:sp>
        <p:nvSpPr>
          <p:cNvPr id="11" name="Shape 9"/>
          <p:cNvSpPr/>
          <p:nvPr/>
        </p:nvSpPr>
        <p:spPr>
          <a:xfrm>
            <a:off x="8778240" y="4572000"/>
            <a:ext cx="2286000" cy="457200"/>
          </a:xfrm>
          <a:prstGeom prst="roundRect">
            <a:avLst>
              <a:gd name="adj" fmla="val 20000"/>
            </a:avLst>
          </a:prstGeom>
          <a:solidFill>
            <a:srgbClr val="B45309"/>
          </a:solidFill>
          <a:ln w="12700">
            <a:solidFill>
              <a:srgbClr val="B45309"/>
            </a:solidFill>
            <a:prstDash val="solid"/>
          </a:ln>
        </p:spPr>
      </p:sp>
      <p:sp>
        <p:nvSpPr>
          <p:cNvPr id="12" name="Text 10"/>
          <p:cNvSpPr/>
          <p:nvPr/>
        </p:nvSpPr>
        <p:spPr>
          <a:xfrm>
            <a:off x="8778240" y="4572000"/>
            <a:ext cx="22860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Quorum Safety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65760" y="137160"/>
            <a:ext cx="11430000" cy="502920"/>
          </a:xfrm>
          <a:prstGeom prst="rect">
            <a:avLst/>
          </a:prstGeom>
          <a:noFill/>
          <a:ln/>
        </p:spPr>
        <p:txBody>
          <a:bodyPr wrap="square" rtlCol="0" anchor="ctr"/>
          <a:lstStyle/>
          <a:p>
            <a:pPr algn="ctr" indent="0" marL="0">
              <a:buNone/>
            </a:pPr>
            <a:r>
              <a:rPr lang="en-US" sz="2200" b="1" dirty="0">
                <a:solidFill>
                  <a:srgbClr val="F1F5F9"/>
                </a:solidFill>
                <a:latin typeface="Calibri" pitchFamily="34" charset="0"/>
                <a:ea typeface="Calibri" pitchFamily="34" charset="-122"/>
                <a:cs typeface="Calibri" pitchFamily="34" charset="-120"/>
              </a:rPr>
              <a:t>Full Architecture Overview</a:t>
            </a:r>
            <a:endParaRPr lang="en-US" sz="2200" dirty="0"/>
          </a:p>
        </p:txBody>
      </p:sp>
      <p:pic>
        <p:nvPicPr>
          <p:cNvPr id="3" name="Image 0" descr="Block-Image Engine Architecture Diagram">    </p:cNvPr>
          <p:cNvPicPr>
            <a:picLocks noChangeAspect="1"/>
          </p:cNvPicPr>
          <p:nvPr/>
        </p:nvPicPr>
        <p:blipFill>
          <a:blip r:embed="rId1"/>
          <a:stretch>
            <a:fillRect/>
          </a:stretch>
        </p:blipFill>
        <p:spPr>
          <a:xfrm>
            <a:off x="182880" y="685800"/>
            <a:ext cx="11795760" cy="6035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65760" y="182880"/>
            <a:ext cx="11430000" cy="502920"/>
          </a:xfrm>
          <a:prstGeom prst="rect">
            <a:avLst/>
          </a:prstGeom>
          <a:noFill/>
          <a:ln/>
        </p:spPr>
        <p:txBody>
          <a:bodyPr wrap="square" rtlCol="0" anchor="ctr"/>
          <a:lstStyle/>
          <a:p>
            <a:pPr algn="ctr" indent="0" marL="0">
              <a:buNone/>
            </a:pPr>
            <a:r>
              <a:rPr lang="en-US" sz="2600" b="1" dirty="0">
                <a:solidFill>
                  <a:srgbClr val="F1F5F9"/>
                </a:solidFill>
                <a:latin typeface="Calibri" pitchFamily="34" charset="0"/>
                <a:ea typeface="Calibri" pitchFamily="34" charset="-122"/>
                <a:cs typeface="Calibri" pitchFamily="34" charset="-120"/>
              </a:rPr>
              <a:t>Write Path: Studio → Engine → NVMe</a:t>
            </a:r>
            <a:endParaRPr lang="en-US" sz="2600" dirty="0"/>
          </a:p>
        </p:txBody>
      </p:sp>
      <p:sp>
        <p:nvSpPr>
          <p:cNvPr id="3" name="Shape 1"/>
          <p:cNvSpPr/>
          <p:nvPr/>
        </p:nvSpPr>
        <p:spPr>
          <a:xfrm>
            <a:off x="365760" y="8686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4" name="Shape 2"/>
          <p:cNvSpPr/>
          <p:nvPr/>
        </p:nvSpPr>
        <p:spPr>
          <a:xfrm>
            <a:off x="475488" y="978408"/>
            <a:ext cx="438912" cy="438912"/>
          </a:xfrm>
          <a:prstGeom prst="ellipse">
            <a:avLst/>
          </a:prstGeom>
          <a:solidFill>
            <a:srgbClr val="7C3AED"/>
          </a:solidFill>
          <a:ln/>
        </p:spPr>
      </p:sp>
      <p:sp>
        <p:nvSpPr>
          <p:cNvPr id="5" name="Text 3"/>
          <p:cNvSpPr/>
          <p:nvPr/>
        </p:nvSpPr>
        <p:spPr>
          <a:xfrm>
            <a:off x="475488" y="9784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05840" y="978408"/>
            <a:ext cx="4846320" cy="329184"/>
          </a:xfrm>
          <a:prstGeom prst="rect">
            <a:avLst/>
          </a:prstGeom>
          <a:noFill/>
          <a:ln/>
        </p:spPr>
        <p:txBody>
          <a:bodyPr wrap="square"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Game Studio / AI Tick</a:t>
            </a:r>
            <a:endParaRPr lang="en-US" sz="1400" dirty="0"/>
          </a:p>
        </p:txBody>
      </p:sp>
      <p:sp>
        <p:nvSpPr>
          <p:cNvPr id="7" name="Text 5"/>
          <p:cNvSpPr/>
          <p:nvPr/>
        </p:nvSpPr>
        <p:spPr>
          <a:xfrm>
            <a:off x="1005840" y="13441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Sends write_block(offset, data)</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via Mutation Engine or run_server.py</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Coordinate → offset arithmetic (O1)</a:t>
            </a:r>
            <a:endParaRPr lang="en-US" sz="1200" dirty="0"/>
          </a:p>
        </p:txBody>
      </p:sp>
      <p:sp>
        <p:nvSpPr>
          <p:cNvPr id="8" name="Shape 6"/>
          <p:cNvSpPr/>
          <p:nvPr/>
        </p:nvSpPr>
        <p:spPr>
          <a:xfrm>
            <a:off x="365760" y="26974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9" name="Shape 7"/>
          <p:cNvSpPr/>
          <p:nvPr/>
        </p:nvSpPr>
        <p:spPr>
          <a:xfrm>
            <a:off x="475488" y="2807208"/>
            <a:ext cx="438912" cy="438912"/>
          </a:xfrm>
          <a:prstGeom prst="ellipse">
            <a:avLst/>
          </a:prstGeom>
          <a:solidFill>
            <a:srgbClr val="FCD34D"/>
          </a:solidFill>
          <a:ln/>
        </p:spPr>
      </p:sp>
      <p:sp>
        <p:nvSpPr>
          <p:cNvPr id="10" name="Text 8"/>
          <p:cNvSpPr/>
          <p:nvPr/>
        </p:nvSpPr>
        <p:spPr>
          <a:xfrm>
            <a:off x="475488" y="2807208"/>
            <a:ext cx="438912" cy="438912"/>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05840" y="2807208"/>
            <a:ext cx="4846320" cy="329184"/>
          </a:xfrm>
          <a:prstGeom prst="rect">
            <a:avLst/>
          </a:prstGeom>
          <a:noFill/>
          <a:ln/>
        </p:spPr>
        <p:txBody>
          <a:bodyPr wrap="square" rtlCol="0" anchor="ctr"/>
          <a:lstStyle/>
          <a:p>
            <a:pPr indent="0" marL="0">
              <a:buNone/>
            </a:pPr>
            <a:r>
              <a:rPr lang="en-US" sz="1400" b="1" dirty="0">
                <a:solidFill>
                  <a:srgbClr val="FCD34D"/>
                </a:solidFill>
                <a:latin typeface="Calibri" pitchFamily="34" charset="0"/>
                <a:ea typeface="Calibri" pitchFamily="34" charset="-122"/>
                <a:cs typeface="Calibri" pitchFamily="34" charset="-120"/>
              </a:rPr>
              <a:t>Write Journal</a:t>
            </a:r>
            <a:endParaRPr lang="en-US" sz="1400" dirty="0"/>
          </a:p>
        </p:txBody>
      </p:sp>
      <p:sp>
        <p:nvSpPr>
          <p:cNvPr id="12" name="Text 10"/>
          <p:cNvSpPr/>
          <p:nvPr/>
        </p:nvSpPr>
        <p:spPr>
          <a:xfrm>
            <a:off x="1005840" y="31729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Crash-safe pre-commit to state.db</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PENDING state recorded in WAL</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Survives power loss — replays on restart</a:t>
            </a:r>
            <a:endParaRPr lang="en-US" sz="1200" dirty="0"/>
          </a:p>
        </p:txBody>
      </p:sp>
      <p:sp>
        <p:nvSpPr>
          <p:cNvPr id="13" name="Shape 11"/>
          <p:cNvSpPr/>
          <p:nvPr/>
        </p:nvSpPr>
        <p:spPr>
          <a:xfrm>
            <a:off x="365760" y="45262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14" name="Shape 12"/>
          <p:cNvSpPr/>
          <p:nvPr/>
        </p:nvSpPr>
        <p:spPr>
          <a:xfrm>
            <a:off x="475488" y="4636008"/>
            <a:ext cx="438912" cy="438912"/>
          </a:xfrm>
          <a:prstGeom prst="ellipse">
            <a:avLst/>
          </a:prstGeom>
          <a:solidFill>
            <a:srgbClr val="4ADE80"/>
          </a:solidFill>
          <a:ln/>
        </p:spPr>
      </p:sp>
      <p:sp>
        <p:nvSpPr>
          <p:cNvPr id="15" name="Text 13"/>
          <p:cNvSpPr/>
          <p:nvPr/>
        </p:nvSpPr>
        <p:spPr>
          <a:xfrm>
            <a:off x="475488" y="4636008"/>
            <a:ext cx="438912" cy="438912"/>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005840" y="4636008"/>
            <a:ext cx="4846320" cy="329184"/>
          </a:xfrm>
          <a:prstGeom prst="rect">
            <a:avLst/>
          </a:prstGeom>
          <a:noFill/>
          <a:ln/>
        </p:spPr>
        <p:txBody>
          <a:bodyPr wrap="square" rtlCol="0" anchor="ctr"/>
          <a:lstStyle/>
          <a:p>
            <a:pPr indent="0" marL="0">
              <a:buNone/>
            </a:pPr>
            <a:r>
              <a:rPr lang="en-US" sz="1400" b="1" dirty="0">
                <a:solidFill>
                  <a:srgbClr val="4ADE80"/>
                </a:solidFill>
                <a:latin typeface="Calibri" pitchFamily="34" charset="0"/>
                <a:ea typeface="Calibri" pitchFamily="34" charset="-122"/>
                <a:cs typeface="Calibri" pitchFamily="34" charset="-120"/>
              </a:rPr>
              <a:t>SparseBlockStore</a:t>
            </a:r>
            <a:endParaRPr lang="en-US" sz="1400" dirty="0"/>
          </a:p>
        </p:txBody>
      </p:sp>
      <p:sp>
        <p:nvSpPr>
          <p:cNvPr id="17" name="Text 15"/>
          <p:cNvSpPr/>
          <p:nvPr/>
        </p:nvSpPr>
        <p:spPr>
          <a:xfrm>
            <a:off x="1005840" y="50017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zlib compress + SHA-256 checksum</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Written to world.db (Array A, NVMe)</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CapacityError on address overflow</a:t>
            </a:r>
            <a:endParaRPr lang="en-US" sz="1200" dirty="0"/>
          </a:p>
        </p:txBody>
      </p:sp>
      <p:sp>
        <p:nvSpPr>
          <p:cNvPr id="18" name="Shape 16"/>
          <p:cNvSpPr/>
          <p:nvPr/>
        </p:nvSpPr>
        <p:spPr>
          <a:xfrm>
            <a:off x="6309360" y="8686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19" name="Shape 17"/>
          <p:cNvSpPr/>
          <p:nvPr/>
        </p:nvSpPr>
        <p:spPr>
          <a:xfrm>
            <a:off x="6419088" y="978408"/>
            <a:ext cx="438912" cy="438912"/>
          </a:xfrm>
          <a:prstGeom prst="ellipse">
            <a:avLst/>
          </a:prstGeom>
          <a:solidFill>
            <a:srgbClr val="F97316"/>
          </a:solidFill>
          <a:ln/>
        </p:spPr>
      </p:sp>
      <p:sp>
        <p:nvSpPr>
          <p:cNvPr id="20" name="Text 18"/>
          <p:cNvSpPr/>
          <p:nvPr/>
        </p:nvSpPr>
        <p:spPr>
          <a:xfrm>
            <a:off x="6419088" y="9784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6949440" y="978408"/>
            <a:ext cx="4846320" cy="329184"/>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ReplicationManager</a:t>
            </a:r>
            <a:endParaRPr lang="en-US" sz="1400" dirty="0"/>
          </a:p>
        </p:txBody>
      </p:sp>
      <p:sp>
        <p:nvSpPr>
          <p:cNvPr id="22" name="Text 20"/>
          <p:cNvSpPr/>
          <p:nvPr/>
        </p:nvSpPr>
        <p:spPr>
          <a:xfrm>
            <a:off x="6949440" y="13441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Fan-out to N replica nodes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QuorumError if &lt; required_replicas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Auto-marks failing nodes unhealthy</a:t>
            </a:r>
            <a:endParaRPr lang="en-US" sz="1200" dirty="0"/>
          </a:p>
        </p:txBody>
      </p:sp>
      <p:sp>
        <p:nvSpPr>
          <p:cNvPr id="23" name="Shape 21"/>
          <p:cNvSpPr/>
          <p:nvPr/>
        </p:nvSpPr>
        <p:spPr>
          <a:xfrm>
            <a:off x="6309360" y="26974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24" name="Shape 22"/>
          <p:cNvSpPr/>
          <p:nvPr/>
        </p:nvSpPr>
        <p:spPr>
          <a:xfrm>
            <a:off x="6419088" y="2807208"/>
            <a:ext cx="438912" cy="438912"/>
          </a:xfrm>
          <a:prstGeom prst="ellipse">
            <a:avLst/>
          </a:prstGeom>
          <a:solidFill>
            <a:srgbClr val="38BDF8"/>
          </a:solidFill>
          <a:ln/>
        </p:spPr>
      </p:sp>
      <p:sp>
        <p:nvSpPr>
          <p:cNvPr id="25" name="Text 23"/>
          <p:cNvSpPr/>
          <p:nvPr/>
        </p:nvSpPr>
        <p:spPr>
          <a:xfrm>
            <a:off x="6419088" y="280720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p:nvPr/>
        </p:nvSpPr>
        <p:spPr>
          <a:xfrm>
            <a:off x="6949440" y="2807208"/>
            <a:ext cx="4846320" cy="329184"/>
          </a:xfrm>
          <a:prstGeom prst="rect">
            <a:avLst/>
          </a:prstGeom>
          <a:noFill/>
          <a:ln/>
        </p:spPr>
        <p:txBody>
          <a:bodyPr wrap="square" rtlCol="0" anchor="ctr"/>
          <a:lstStyle/>
          <a:p>
            <a:pPr indent="0" marL="0">
              <a:buNone/>
            </a:pPr>
            <a:r>
              <a:rPr lang="en-US" sz="1400" b="1" dirty="0">
                <a:solidFill>
                  <a:srgbClr val="38BDF8"/>
                </a:solidFill>
                <a:latin typeface="Calibri" pitchFamily="34" charset="0"/>
                <a:ea typeface="Calibri" pitchFamily="34" charset="-122"/>
                <a:cs typeface="Calibri" pitchFamily="34" charset="-120"/>
              </a:rPr>
              <a:t>Async Mirror → Array B</a:t>
            </a:r>
            <a:endParaRPr lang="en-US" sz="1400" dirty="0"/>
          </a:p>
        </p:txBody>
      </p:sp>
      <p:sp>
        <p:nvSpPr>
          <p:cNvPr id="27" name="Text 25"/>
          <p:cNvSpPr/>
          <p:nvPr/>
        </p:nvSpPr>
        <p:spPr>
          <a:xfrm>
            <a:off x="6949440" y="31729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Post-commit, post-quorum forward</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world_render.db updated async</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Never adds latency to write path</a:t>
            </a:r>
            <a:endParaRPr lang="en-US" sz="1200" dirty="0"/>
          </a:p>
        </p:txBody>
      </p:sp>
      <p:sp>
        <p:nvSpPr>
          <p:cNvPr id="28" name="Shape 26"/>
          <p:cNvSpPr/>
          <p:nvPr/>
        </p:nvSpPr>
        <p:spPr>
          <a:xfrm>
            <a:off x="6309360" y="4526280"/>
            <a:ext cx="5577840" cy="1600200"/>
          </a:xfrm>
          <a:prstGeom prst="roundRect">
            <a:avLst>
              <a:gd name="adj" fmla="val 5714"/>
            </a:avLst>
          </a:prstGeom>
          <a:solidFill>
            <a:srgbClr val="1E293B"/>
          </a:solidFill>
          <a:ln/>
          <a:effectLst>
            <a:outerShdw sx="100000" sy="100000" kx="0" ky="0" algn="bl" rotWithShape="0" blurRad="101600" dist="25400" dir="2700000">
              <a:srgbClr val="000000">
                <a:alpha val="20000"/>
              </a:srgbClr>
            </a:outerShdw>
          </a:effectLst>
        </p:spPr>
      </p:sp>
      <p:sp>
        <p:nvSpPr>
          <p:cNvPr id="29" name="Shape 27"/>
          <p:cNvSpPr/>
          <p:nvPr/>
        </p:nvSpPr>
        <p:spPr>
          <a:xfrm>
            <a:off x="6419088" y="4636008"/>
            <a:ext cx="438912" cy="438912"/>
          </a:xfrm>
          <a:prstGeom prst="ellipse">
            <a:avLst/>
          </a:prstGeom>
          <a:solidFill>
            <a:srgbClr val="4ADE80"/>
          </a:solidFill>
          <a:ln/>
        </p:spPr>
      </p:sp>
      <p:sp>
        <p:nvSpPr>
          <p:cNvPr id="30" name="Text 28"/>
          <p:cNvSpPr/>
          <p:nvPr/>
        </p:nvSpPr>
        <p:spPr>
          <a:xfrm>
            <a:off x="6419088" y="4636008"/>
            <a:ext cx="438912" cy="438912"/>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6</a:t>
            </a:r>
            <a:endParaRPr lang="en-US" sz="1400" dirty="0"/>
          </a:p>
        </p:txBody>
      </p:sp>
      <p:sp>
        <p:nvSpPr>
          <p:cNvPr id="31" name="Text 29"/>
          <p:cNvSpPr/>
          <p:nvPr/>
        </p:nvSpPr>
        <p:spPr>
          <a:xfrm>
            <a:off x="6949440" y="4636008"/>
            <a:ext cx="4846320" cy="329184"/>
          </a:xfrm>
          <a:prstGeom prst="rect">
            <a:avLst/>
          </a:prstGeom>
          <a:noFill/>
          <a:ln/>
        </p:spPr>
        <p:txBody>
          <a:bodyPr wrap="square" rtlCol="0" anchor="ctr"/>
          <a:lstStyle/>
          <a:p>
            <a:pPr indent="0" marL="0">
              <a:buNone/>
            </a:pPr>
            <a:r>
              <a:rPr lang="en-US" sz="1400" b="1" dirty="0">
                <a:solidFill>
                  <a:srgbClr val="4ADE80"/>
                </a:solidFill>
                <a:latin typeface="Calibri" pitchFamily="34" charset="0"/>
                <a:ea typeface="Calibri" pitchFamily="34" charset="-122"/>
                <a:cs typeface="Calibri" pitchFamily="34" charset="-120"/>
              </a:rPr>
              <a:t>Block State: REPLICATED</a:t>
            </a:r>
            <a:endParaRPr lang="en-US" sz="1400" dirty="0"/>
          </a:p>
        </p:txBody>
      </p:sp>
      <p:sp>
        <p:nvSpPr>
          <p:cNvPr id="32" name="Text 30"/>
          <p:cNvSpPr/>
          <p:nvPr/>
        </p:nvSpPr>
        <p:spPr>
          <a:xfrm>
            <a:off x="6949440" y="5001768"/>
            <a:ext cx="4846320" cy="1005840"/>
          </a:xfrm>
          <a:prstGeom prst="rect">
            <a:avLst/>
          </a:prstGeom>
          <a:noFill/>
          <a:ln/>
        </p:spPr>
        <p:txBody>
          <a:bodyPr wrap="square" rtlCol="0" anchor="t"/>
          <a:lstStyle/>
          <a:p>
            <a:pPr indent="0" marL="0">
              <a:buNone/>
            </a:pPr>
            <a:r>
              <a:rPr lang="en-US" sz="1200" dirty="0">
                <a:solidFill>
                  <a:srgbClr val="94A3B8"/>
                </a:solidFill>
                <a:latin typeface="Calibri" pitchFamily="34" charset="0"/>
                <a:ea typeface="Calibri" pitchFamily="34" charset="-122"/>
                <a:cs typeface="Calibri" pitchFamily="34" charset="-120"/>
              </a:rPr>
              <a:t>State index updated in state.db</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Write sequence number incremented</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Array B lag tracked via write_seq</a:t>
            </a:r>
            <a:endParaRPr lang="en-US" sz="1200" dirty="0"/>
          </a:p>
        </p:txBody>
      </p:sp>
      <p:sp>
        <p:nvSpPr>
          <p:cNvPr id="33" name="Shape 31"/>
          <p:cNvSpPr/>
          <p:nvPr/>
        </p:nvSpPr>
        <p:spPr>
          <a:xfrm>
            <a:off x="5897880" y="4315968"/>
            <a:ext cx="457200" cy="0"/>
          </a:xfrm>
          <a:prstGeom prst="line">
            <a:avLst/>
          </a:prstGeom>
          <a:noFill/>
          <a:ln w="19050">
            <a:solidFill>
              <a:srgbClr val="47556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65760" y="182880"/>
            <a:ext cx="11430000" cy="502920"/>
          </a:xfrm>
          <a:prstGeom prst="rect">
            <a:avLst/>
          </a:prstGeom>
          <a:noFill/>
          <a:ln/>
        </p:spPr>
        <p:txBody>
          <a:bodyPr wrap="square" rtlCol="0" anchor="ctr"/>
          <a:lstStyle/>
          <a:p>
            <a:pPr algn="ctr" indent="0" marL="0">
              <a:buNone/>
            </a:pPr>
            <a:r>
              <a:rPr lang="en-US" sz="2600" b="1" dirty="0">
                <a:solidFill>
                  <a:srgbClr val="F1F5F9"/>
                </a:solidFill>
                <a:latin typeface="Calibri" pitchFamily="34" charset="0"/>
                <a:ea typeface="Calibri" pitchFamily="34" charset="-122"/>
                <a:cs typeface="Calibri" pitchFamily="34" charset="-120"/>
              </a:rPr>
              <a:t>Read Path &amp; Hardware Design</a:t>
            </a:r>
            <a:endParaRPr lang="en-US" sz="2600" dirty="0"/>
          </a:p>
        </p:txBody>
      </p:sp>
      <p:sp>
        <p:nvSpPr>
          <p:cNvPr id="3" name="Shape 1"/>
          <p:cNvSpPr/>
          <p:nvPr/>
        </p:nvSpPr>
        <p:spPr>
          <a:xfrm>
            <a:off x="365760" y="868680"/>
            <a:ext cx="5303520" cy="1234440"/>
          </a:xfrm>
          <a:prstGeom prst="roundRect">
            <a:avLst>
              <a:gd name="adj" fmla="val 7407"/>
            </a:avLst>
          </a:prstGeom>
          <a:solidFill>
            <a:srgbClr val="1E293B"/>
          </a:solidFill>
          <a:ln/>
        </p:spPr>
      </p:sp>
      <p:sp>
        <p:nvSpPr>
          <p:cNvPr id="4" name="Text 2"/>
          <p:cNvSpPr/>
          <p:nvPr/>
        </p:nvSpPr>
        <p:spPr>
          <a:xfrm>
            <a:off x="548640" y="960120"/>
            <a:ext cx="5029200" cy="329184"/>
          </a:xfrm>
          <a:prstGeom prst="rect">
            <a:avLst/>
          </a:prstGeom>
          <a:noFill/>
          <a:ln/>
        </p:spPr>
        <p:txBody>
          <a:bodyPr wrap="square" rtlCol="0" anchor="ctr"/>
          <a:lstStyle/>
          <a:p>
            <a:pPr indent="0" marL="0">
              <a:buNone/>
            </a:pPr>
            <a:r>
              <a:rPr lang="en-US" sz="1300" b="1" dirty="0">
                <a:solidFill>
                  <a:srgbClr val="0891B2"/>
                </a:solidFill>
                <a:latin typeface="Calibri" pitchFamily="34" charset="0"/>
                <a:ea typeface="Calibri" pitchFamily="34" charset="-122"/>
                <a:cs typeface="Calibri" pitchFamily="34" charset="-120"/>
              </a:rPr>
              <a:t>Thin Client Request</a:t>
            </a:r>
            <a:endParaRPr lang="en-US" sz="1300" dirty="0"/>
          </a:p>
        </p:txBody>
      </p:sp>
      <p:sp>
        <p:nvSpPr>
          <p:cNvPr id="5" name="Text 3"/>
          <p:cNvSpPr/>
          <p:nvPr/>
        </p:nvSpPr>
        <p:spPr>
          <a:xfrm>
            <a:off x="548640" y="1325880"/>
            <a:ext cx="502920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Player position → player_offset(px,py,pz)</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blocks_in_range() for view frustum set</a:t>
            </a:r>
            <a:endParaRPr lang="en-US" sz="1100" dirty="0"/>
          </a:p>
        </p:txBody>
      </p:sp>
      <p:sp>
        <p:nvSpPr>
          <p:cNvPr id="6" name="Shape 4"/>
          <p:cNvSpPr/>
          <p:nvPr/>
        </p:nvSpPr>
        <p:spPr>
          <a:xfrm>
            <a:off x="3017520" y="2103120"/>
            <a:ext cx="0" cy="155448"/>
          </a:xfrm>
          <a:prstGeom prst="line">
            <a:avLst/>
          </a:prstGeom>
          <a:noFill/>
          <a:ln w="19050">
            <a:solidFill>
              <a:srgbClr val="475569"/>
            </a:solidFill>
            <a:prstDash val="solid"/>
          </a:ln>
        </p:spPr>
      </p:sp>
      <p:sp>
        <p:nvSpPr>
          <p:cNvPr id="7" name="Shape 5"/>
          <p:cNvSpPr/>
          <p:nvPr/>
        </p:nvSpPr>
        <p:spPr>
          <a:xfrm>
            <a:off x="365760" y="2258568"/>
            <a:ext cx="5303520" cy="1234440"/>
          </a:xfrm>
          <a:prstGeom prst="roundRect">
            <a:avLst>
              <a:gd name="adj" fmla="val 7407"/>
            </a:avLst>
          </a:prstGeom>
          <a:solidFill>
            <a:srgbClr val="1E293B"/>
          </a:solidFill>
          <a:ln/>
        </p:spPr>
      </p:sp>
      <p:sp>
        <p:nvSpPr>
          <p:cNvPr id="8" name="Text 6"/>
          <p:cNvSpPr/>
          <p:nvPr/>
        </p:nvSpPr>
        <p:spPr>
          <a:xfrm>
            <a:off x="548640" y="2350008"/>
            <a:ext cx="5029200" cy="329184"/>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RenderFeed (20 Hz)</a:t>
            </a:r>
            <a:endParaRPr lang="en-US" sz="1300" dirty="0"/>
          </a:p>
        </p:txBody>
      </p:sp>
      <p:sp>
        <p:nvSpPr>
          <p:cNvPr id="9" name="Text 7"/>
          <p:cNvSpPr/>
          <p:nvPr/>
        </p:nvSpPr>
        <p:spPr>
          <a:xfrm>
            <a:off x="548640" y="2715768"/>
            <a:ext cx="502920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Delta-only feed — only changed blocks sent</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Reads exclusively from Array B (world_render.db)</a:t>
            </a:r>
            <a:endParaRPr lang="en-US" sz="1100" dirty="0"/>
          </a:p>
        </p:txBody>
      </p:sp>
      <p:sp>
        <p:nvSpPr>
          <p:cNvPr id="10" name="Shape 8"/>
          <p:cNvSpPr/>
          <p:nvPr/>
        </p:nvSpPr>
        <p:spPr>
          <a:xfrm>
            <a:off x="3017520" y="3493008"/>
            <a:ext cx="0" cy="155448"/>
          </a:xfrm>
          <a:prstGeom prst="line">
            <a:avLst/>
          </a:prstGeom>
          <a:noFill/>
          <a:ln w="19050">
            <a:solidFill>
              <a:srgbClr val="475569"/>
            </a:solidFill>
            <a:prstDash val="solid"/>
          </a:ln>
        </p:spPr>
      </p:sp>
      <p:sp>
        <p:nvSpPr>
          <p:cNvPr id="11" name="Shape 9"/>
          <p:cNvSpPr/>
          <p:nvPr/>
        </p:nvSpPr>
        <p:spPr>
          <a:xfrm>
            <a:off x="365760" y="3648456"/>
            <a:ext cx="5303520" cy="1234440"/>
          </a:xfrm>
          <a:prstGeom prst="roundRect">
            <a:avLst>
              <a:gd name="adj" fmla="val 7407"/>
            </a:avLst>
          </a:prstGeom>
          <a:solidFill>
            <a:srgbClr val="1E293B"/>
          </a:solidFill>
          <a:ln/>
        </p:spPr>
      </p:sp>
      <p:sp>
        <p:nvSpPr>
          <p:cNvPr id="12" name="Text 10"/>
          <p:cNvSpPr/>
          <p:nvPr/>
        </p:nvSpPr>
        <p:spPr>
          <a:xfrm>
            <a:off x="548640" y="3739896"/>
            <a:ext cx="5029200" cy="329184"/>
          </a:xfrm>
          <a:prstGeom prst="rect">
            <a:avLst/>
          </a:prstGeom>
          <a:noFill/>
          <a:ln/>
        </p:spPr>
        <p:txBody>
          <a:bodyPr wrap="square" rtlCol="0" anchor="ctr"/>
          <a:lstStyle/>
          <a:p>
            <a:pPr indent="0" marL="0">
              <a:buNone/>
            </a:pPr>
            <a:r>
              <a:rPr lang="en-US" sz="1300" b="1" dirty="0">
                <a:solidFill>
                  <a:srgbClr val="0369A1"/>
                </a:solidFill>
                <a:latin typeface="Calibri" pitchFamily="34" charset="0"/>
                <a:ea typeface="Calibri" pitchFamily="34" charset="-122"/>
                <a:cs typeface="Calibri" pitchFamily="34" charset="-120"/>
              </a:rPr>
              <a:t>RenderStore (Array B)</a:t>
            </a:r>
            <a:endParaRPr lang="en-US" sz="1300" dirty="0"/>
          </a:p>
        </p:txBody>
      </p:sp>
      <p:sp>
        <p:nvSpPr>
          <p:cNvPr id="13" name="Text 11"/>
          <p:cNvSpPr/>
          <p:nvPr/>
        </p:nvSpPr>
        <p:spPr>
          <a:xfrm>
            <a:off x="548640" y="4105656"/>
            <a:ext cx="502920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read_block(offset) → verify SHA-256</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Corrupt block → recover from replica</a:t>
            </a:r>
            <a:endParaRPr lang="en-US" sz="1100" dirty="0"/>
          </a:p>
        </p:txBody>
      </p:sp>
      <p:sp>
        <p:nvSpPr>
          <p:cNvPr id="14" name="Shape 12"/>
          <p:cNvSpPr/>
          <p:nvPr/>
        </p:nvSpPr>
        <p:spPr>
          <a:xfrm>
            <a:off x="3017520" y="4882896"/>
            <a:ext cx="0" cy="155448"/>
          </a:xfrm>
          <a:prstGeom prst="line">
            <a:avLst/>
          </a:prstGeom>
          <a:noFill/>
          <a:ln w="19050">
            <a:solidFill>
              <a:srgbClr val="475569"/>
            </a:solidFill>
            <a:prstDash val="solid"/>
          </a:ln>
        </p:spPr>
      </p:sp>
      <p:sp>
        <p:nvSpPr>
          <p:cNvPr id="15" name="Shape 13"/>
          <p:cNvSpPr/>
          <p:nvPr/>
        </p:nvSpPr>
        <p:spPr>
          <a:xfrm>
            <a:off x="365760" y="5038344"/>
            <a:ext cx="5303520" cy="1234440"/>
          </a:xfrm>
          <a:prstGeom prst="roundRect">
            <a:avLst>
              <a:gd name="adj" fmla="val 7407"/>
            </a:avLst>
          </a:prstGeom>
          <a:solidFill>
            <a:srgbClr val="1E293B"/>
          </a:solidFill>
          <a:ln/>
        </p:spPr>
      </p:sp>
      <p:sp>
        <p:nvSpPr>
          <p:cNvPr id="16" name="Text 14"/>
          <p:cNvSpPr/>
          <p:nvPr/>
        </p:nvSpPr>
        <p:spPr>
          <a:xfrm>
            <a:off x="548640" y="5129784"/>
            <a:ext cx="5029200" cy="329184"/>
          </a:xfrm>
          <a:prstGeom prst="rect">
            <a:avLst/>
          </a:prstGeom>
          <a:noFill/>
          <a:ln/>
        </p:spPr>
        <p:txBody>
          <a:bodyPr wrap="square"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Entity Deltas</a:t>
            </a:r>
            <a:endParaRPr lang="en-US" sz="1300" dirty="0"/>
          </a:p>
        </p:txBody>
      </p:sp>
      <p:sp>
        <p:nvSpPr>
          <p:cNvPr id="17" name="Text 15"/>
          <p:cNvSpPr/>
          <p:nvPr/>
        </p:nvSpPr>
        <p:spPr>
          <a:xfrm>
            <a:off x="548640" y="5495544"/>
            <a:ext cx="502920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EntitySidecar runs in parallel</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64-byte slots, entity_hint ptr in block record</a:t>
            </a:r>
            <a:endParaRPr lang="en-US" sz="1100" dirty="0"/>
          </a:p>
        </p:txBody>
      </p:sp>
      <p:sp>
        <p:nvSpPr>
          <p:cNvPr id="18" name="Shape 16"/>
          <p:cNvSpPr/>
          <p:nvPr/>
        </p:nvSpPr>
        <p:spPr>
          <a:xfrm>
            <a:off x="6126480" y="868680"/>
            <a:ext cx="5669280" cy="1234440"/>
          </a:xfrm>
          <a:prstGeom prst="roundRect">
            <a:avLst>
              <a:gd name="adj" fmla="val 7407"/>
            </a:avLst>
          </a:prstGeom>
          <a:solidFill>
            <a:srgbClr val="0D2210"/>
          </a:solidFill>
          <a:ln w="12700">
            <a:solidFill>
              <a:srgbClr val="1A4A1A"/>
            </a:solidFill>
            <a:prstDash val="solid"/>
          </a:ln>
        </p:spPr>
      </p:sp>
      <p:sp>
        <p:nvSpPr>
          <p:cNvPr id="19" name="Text 17"/>
          <p:cNvSpPr/>
          <p:nvPr/>
        </p:nvSpPr>
        <p:spPr>
          <a:xfrm>
            <a:off x="6309360" y="960120"/>
            <a:ext cx="5394960" cy="329184"/>
          </a:xfrm>
          <a:prstGeom prst="rect">
            <a:avLst/>
          </a:prstGeom>
          <a:noFill/>
          <a:ln/>
        </p:spPr>
        <p:txBody>
          <a:bodyPr wrap="square"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16-byte block alignment</a:t>
            </a:r>
            <a:endParaRPr lang="en-US" sz="1300" dirty="0"/>
          </a:p>
        </p:txBody>
      </p:sp>
      <p:sp>
        <p:nvSpPr>
          <p:cNvPr id="20" name="Text 18"/>
          <p:cNvSpPr/>
          <p:nvPr/>
        </p:nvSpPr>
        <p:spPr>
          <a:xfrm>
            <a:off x="6309360" y="1325880"/>
            <a:ext cx="539496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Every offset is a power-of-2 multiple. NVMe page boundaries = chunk boundaries for 16×16×16 reads.</a:t>
            </a:r>
            <a:endParaRPr lang="en-US" sz="1100" dirty="0"/>
          </a:p>
        </p:txBody>
      </p:sp>
      <p:sp>
        <p:nvSpPr>
          <p:cNvPr id="21" name="Shape 19"/>
          <p:cNvSpPr/>
          <p:nvPr/>
        </p:nvSpPr>
        <p:spPr>
          <a:xfrm>
            <a:off x="6126480" y="2258568"/>
            <a:ext cx="5669280" cy="1234440"/>
          </a:xfrm>
          <a:prstGeom prst="roundRect">
            <a:avLst>
              <a:gd name="adj" fmla="val 7407"/>
            </a:avLst>
          </a:prstGeom>
          <a:solidFill>
            <a:srgbClr val="0D2210"/>
          </a:solidFill>
          <a:ln w="12700">
            <a:solidFill>
              <a:srgbClr val="1A4A1A"/>
            </a:solidFill>
            <a:prstDash val="solid"/>
          </a:ln>
        </p:spPr>
      </p:sp>
      <p:sp>
        <p:nvSpPr>
          <p:cNvPr id="22" name="Text 20"/>
          <p:cNvSpPr/>
          <p:nvPr/>
        </p:nvSpPr>
        <p:spPr>
          <a:xfrm>
            <a:off x="6309360" y="2350008"/>
            <a:ext cx="5394960" cy="329184"/>
          </a:xfrm>
          <a:prstGeom prst="rect">
            <a:avLst/>
          </a:prstGeom>
          <a:noFill/>
          <a:ln/>
        </p:spPr>
        <p:txBody>
          <a:bodyPr wrap="square"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O(1) coordinate lookup</a:t>
            </a:r>
            <a:endParaRPr lang="en-US" sz="1300" dirty="0"/>
          </a:p>
        </p:txBody>
      </p:sp>
      <p:sp>
        <p:nvSpPr>
          <p:cNvPr id="23" name="Text 21"/>
          <p:cNvSpPr/>
          <p:nvPr/>
        </p:nvSpPr>
        <p:spPr>
          <a:xfrm>
            <a:off x="6309360" y="2715768"/>
            <a:ext cx="539496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offset(x,y,z) = (z·W·H + y·W + x) × 16. No hash, no index, no cache miss at engine layer.</a:t>
            </a:r>
            <a:endParaRPr lang="en-US" sz="1100" dirty="0"/>
          </a:p>
        </p:txBody>
      </p:sp>
      <p:sp>
        <p:nvSpPr>
          <p:cNvPr id="24" name="Shape 22"/>
          <p:cNvSpPr/>
          <p:nvPr/>
        </p:nvSpPr>
        <p:spPr>
          <a:xfrm>
            <a:off x="6126480" y="3648456"/>
            <a:ext cx="5669280" cy="1234440"/>
          </a:xfrm>
          <a:prstGeom prst="roundRect">
            <a:avLst>
              <a:gd name="adj" fmla="val 7407"/>
            </a:avLst>
          </a:prstGeom>
          <a:solidFill>
            <a:srgbClr val="0D2210"/>
          </a:solidFill>
          <a:ln w="12700">
            <a:solidFill>
              <a:srgbClr val="1A4A1A"/>
            </a:solidFill>
            <a:prstDash val="solid"/>
          </a:ln>
        </p:spPr>
      </p:sp>
      <p:sp>
        <p:nvSpPr>
          <p:cNvPr id="25" name="Text 23"/>
          <p:cNvSpPr/>
          <p:nvPr/>
        </p:nvSpPr>
        <p:spPr>
          <a:xfrm>
            <a:off x="6309360" y="3739896"/>
            <a:ext cx="5394960" cy="329184"/>
          </a:xfrm>
          <a:prstGeom prst="rect">
            <a:avLst/>
          </a:prstGeom>
          <a:noFill/>
          <a:ln/>
        </p:spPr>
        <p:txBody>
          <a:bodyPr wrap="square"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Dual-array isolation</a:t>
            </a:r>
            <a:endParaRPr lang="en-US" sz="1300" dirty="0"/>
          </a:p>
        </p:txBody>
      </p:sp>
      <p:sp>
        <p:nvSpPr>
          <p:cNvPr id="26" name="Text 24"/>
          <p:cNvSpPr/>
          <p:nvPr/>
        </p:nvSpPr>
        <p:spPr>
          <a:xfrm>
            <a:off x="6309360" y="4105656"/>
            <a:ext cx="539496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Array A absorbs all writes. Array B has zero write-path contention — full NVMe throughput for reads.</a:t>
            </a:r>
            <a:endParaRPr lang="en-US" sz="1100" dirty="0"/>
          </a:p>
        </p:txBody>
      </p:sp>
      <p:sp>
        <p:nvSpPr>
          <p:cNvPr id="27" name="Shape 25"/>
          <p:cNvSpPr/>
          <p:nvPr/>
        </p:nvSpPr>
        <p:spPr>
          <a:xfrm>
            <a:off x="6126480" y="5038344"/>
            <a:ext cx="5669280" cy="1234440"/>
          </a:xfrm>
          <a:prstGeom prst="roundRect">
            <a:avLst>
              <a:gd name="adj" fmla="val 7407"/>
            </a:avLst>
          </a:prstGeom>
          <a:solidFill>
            <a:srgbClr val="0D2210"/>
          </a:solidFill>
          <a:ln w="12700">
            <a:solidFill>
              <a:srgbClr val="1A4A1A"/>
            </a:solidFill>
            <a:prstDash val="solid"/>
          </a:ln>
        </p:spPr>
      </p:sp>
      <p:sp>
        <p:nvSpPr>
          <p:cNvPr id="28" name="Text 26"/>
          <p:cNvSpPr/>
          <p:nvPr/>
        </p:nvSpPr>
        <p:spPr>
          <a:xfrm>
            <a:off x="6309360" y="5129784"/>
            <a:ext cx="5394960" cy="329184"/>
          </a:xfrm>
          <a:prstGeom prst="rect">
            <a:avLst/>
          </a:prstGeom>
          <a:noFill/>
          <a:ln/>
        </p:spPr>
        <p:txBody>
          <a:bodyPr wrap="square" rtlCol="0" anchor="ctr"/>
          <a:lstStyle/>
          <a:p>
            <a:pPr indent="0" marL="0">
              <a:buNone/>
            </a:pPr>
            <a:r>
              <a:rPr lang="en-US" sz="1300" b="1" dirty="0">
                <a:solidFill>
                  <a:srgbClr val="4ADE80"/>
                </a:solidFill>
                <a:latin typeface="Calibri" pitchFamily="34" charset="0"/>
                <a:ea typeface="Calibri" pitchFamily="34" charset="-122"/>
                <a:cs typeface="Calibri" pitchFamily="34" charset="-120"/>
              </a:rPr>
              <a:t>Hardware-agnostic core</a:t>
            </a:r>
            <a:endParaRPr lang="en-US" sz="1300" dirty="0"/>
          </a:p>
        </p:txBody>
      </p:sp>
      <p:sp>
        <p:nvSpPr>
          <p:cNvPr id="29" name="Text 27"/>
          <p:cNvSpPr/>
          <p:nvPr/>
        </p:nvSpPr>
        <p:spPr>
          <a:xfrm>
            <a:off x="6309360" y="5495544"/>
            <a:ext cx="5394960" cy="68580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Same logic runs over RAM, NVMe, or cloud block storage. io_uring + O_DIRECT stubbed for future.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365760" y="182880"/>
            <a:ext cx="11430000" cy="502920"/>
          </a:xfrm>
          <a:prstGeom prst="rect">
            <a:avLst/>
          </a:prstGeom>
          <a:noFill/>
          <a:ln/>
        </p:spPr>
        <p:txBody>
          <a:bodyPr wrap="square" rtlCol="0" anchor="ctr"/>
          <a:lstStyle/>
          <a:p>
            <a:pPr algn="ctr" indent="0" marL="0">
              <a:buNone/>
            </a:pPr>
            <a:r>
              <a:rPr lang="en-US" sz="2600" b="1" dirty="0">
                <a:solidFill>
                  <a:srgbClr val="F1F5F9"/>
                </a:solidFill>
                <a:latin typeface="Calibri" pitchFamily="34" charset="0"/>
                <a:ea typeface="Calibri" pitchFamily="34" charset="-122"/>
                <a:cs typeface="Calibri" pitchFamily="34" charset="-120"/>
              </a:rPr>
              <a:t>External Sources &amp; Integration Points</a:t>
            </a:r>
            <a:endParaRPr lang="en-US" sz="2600" dirty="0"/>
          </a:p>
        </p:txBody>
      </p:sp>
      <p:sp>
        <p:nvSpPr>
          <p:cNvPr id="3" name="Shape 1"/>
          <p:cNvSpPr/>
          <p:nvPr/>
        </p:nvSpPr>
        <p:spPr>
          <a:xfrm>
            <a:off x="320040" y="82296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4" name="Text 2"/>
          <p:cNvSpPr/>
          <p:nvPr/>
        </p:nvSpPr>
        <p:spPr>
          <a:xfrm>
            <a:off x="502920" y="932688"/>
            <a:ext cx="5303520" cy="292608"/>
          </a:xfrm>
          <a:prstGeom prst="rect">
            <a:avLst/>
          </a:prstGeom>
          <a:noFill/>
          <a:ln/>
        </p:spPr>
        <p:txBody>
          <a:bodyPr wrap="square"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Game Studio</a:t>
            </a:r>
            <a:endParaRPr lang="en-US" sz="1400" dirty="0"/>
          </a:p>
        </p:txBody>
      </p:sp>
      <p:sp>
        <p:nvSpPr>
          <p:cNvPr id="5" name="Text 3"/>
          <p:cNvSpPr/>
          <p:nvPr/>
        </p:nvSpPr>
        <p:spPr>
          <a:xfrm>
            <a:off x="502920" y="122529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World design &amp; asset pipelines</a:t>
            </a:r>
            <a:endParaRPr lang="en-US" sz="1100" dirty="0"/>
          </a:p>
        </p:txBody>
      </p:sp>
      <p:sp>
        <p:nvSpPr>
          <p:cNvPr id="6" name="Text 4"/>
          <p:cNvSpPr/>
          <p:nvPr/>
        </p:nvSpPr>
        <p:spPr>
          <a:xfrm>
            <a:off x="502920" y="144475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Calls world_gen.py with --seed, --size, --out flags. All terrain writes go through ResilientStore — journal, quorum, and mirror forward included. Generation is crash-resumable at any chunk boundary.</a:t>
            </a:r>
            <a:endParaRPr lang="en-US" sz="1000" dirty="0"/>
          </a:p>
        </p:txBody>
      </p:sp>
      <p:sp>
        <p:nvSpPr>
          <p:cNvPr id="7" name="Shape 5"/>
          <p:cNvSpPr/>
          <p:nvPr/>
        </p:nvSpPr>
        <p:spPr>
          <a:xfrm>
            <a:off x="457200" y="2249424"/>
            <a:ext cx="5394960" cy="274320"/>
          </a:xfrm>
          <a:prstGeom prst="roundRect">
            <a:avLst>
              <a:gd name="adj" fmla="val 16667"/>
            </a:avLst>
          </a:prstGeom>
          <a:solidFill>
            <a:srgbClr val="0F172A"/>
          </a:solidFill>
          <a:ln/>
        </p:spPr>
      </p:sp>
      <p:sp>
        <p:nvSpPr>
          <p:cNvPr id="8" name="Text 6"/>
          <p:cNvSpPr/>
          <p:nvPr/>
        </p:nvSpPr>
        <p:spPr>
          <a:xfrm>
            <a:off x="502920" y="224942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python world_gen.py --size 64 --seed 42 --out world.db</a:t>
            </a:r>
            <a:endParaRPr lang="en-US" sz="900" dirty="0"/>
          </a:p>
        </p:txBody>
      </p:sp>
      <p:sp>
        <p:nvSpPr>
          <p:cNvPr id="9" name="Shape 7"/>
          <p:cNvSpPr/>
          <p:nvPr/>
        </p:nvSpPr>
        <p:spPr>
          <a:xfrm>
            <a:off x="6263640" y="82296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10" name="Text 8"/>
          <p:cNvSpPr/>
          <p:nvPr/>
        </p:nvSpPr>
        <p:spPr>
          <a:xfrm>
            <a:off x="6446520" y="932688"/>
            <a:ext cx="5303520" cy="292608"/>
          </a:xfrm>
          <a:prstGeom prst="rect">
            <a:avLst/>
          </a:prstGeom>
          <a:noFill/>
          <a:ln/>
        </p:spPr>
        <p:txBody>
          <a:bodyPr wrap="square" rtlCol="0" anchor="ctr"/>
          <a:lstStyle/>
          <a:p>
            <a:pPr indent="0" marL="0">
              <a:buNone/>
            </a:pPr>
            <a:r>
              <a:rPr lang="en-US" sz="1400" b="1" dirty="0">
                <a:solidFill>
                  <a:srgbClr val="0891B2"/>
                </a:solidFill>
                <a:latin typeface="Calibri" pitchFamily="34" charset="0"/>
                <a:ea typeface="Calibri" pitchFamily="34" charset="-122"/>
                <a:cs typeface="Calibri" pitchFamily="34" charset="-120"/>
              </a:rPr>
              <a:t>Game Clients / Players</a:t>
            </a:r>
            <a:endParaRPr lang="en-US" sz="1400" dirty="0"/>
          </a:p>
        </p:txBody>
      </p:sp>
      <p:sp>
        <p:nvSpPr>
          <p:cNvPr id="11" name="Text 9"/>
          <p:cNvSpPr/>
          <p:nvPr/>
        </p:nvSpPr>
        <p:spPr>
          <a:xfrm>
            <a:off x="6446520" y="122529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20 Hz real-time delta feed</a:t>
            </a:r>
            <a:endParaRPr lang="en-US" sz="1100" dirty="0"/>
          </a:p>
        </p:txBody>
      </p:sp>
      <p:sp>
        <p:nvSpPr>
          <p:cNvPr id="12" name="Text 10"/>
          <p:cNvSpPr/>
          <p:nvPr/>
        </p:nvSpPr>
        <p:spPr>
          <a:xfrm>
            <a:off x="6446520" y="144475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Client subscribes to RenderFeed. Engine delivers delta-only block and entity changes at 20 Hz. Client converts player position to offset via player_offset() every tick. No direct storage access.</a:t>
            </a:r>
            <a:endParaRPr lang="en-US" sz="1000" dirty="0"/>
          </a:p>
        </p:txBody>
      </p:sp>
      <p:sp>
        <p:nvSpPr>
          <p:cNvPr id="13" name="Shape 11"/>
          <p:cNvSpPr/>
          <p:nvPr/>
        </p:nvSpPr>
        <p:spPr>
          <a:xfrm>
            <a:off x="6400800" y="2249424"/>
            <a:ext cx="5394960" cy="274320"/>
          </a:xfrm>
          <a:prstGeom prst="roundRect">
            <a:avLst>
              <a:gd name="adj" fmla="val 16667"/>
            </a:avLst>
          </a:prstGeom>
          <a:solidFill>
            <a:srgbClr val="0F172A"/>
          </a:solidFill>
          <a:ln/>
        </p:spPr>
      </p:sp>
      <p:sp>
        <p:nvSpPr>
          <p:cNvPr id="14" name="Text 12"/>
          <p:cNvSpPr/>
          <p:nvPr/>
        </p:nvSpPr>
        <p:spPr>
          <a:xfrm>
            <a:off x="6446520" y="224942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python client.py  →  RenderDelta(block_deltas, entity_deltas)</a:t>
            </a:r>
            <a:endParaRPr lang="en-US" sz="900" dirty="0"/>
          </a:p>
        </p:txBody>
      </p:sp>
      <p:sp>
        <p:nvSpPr>
          <p:cNvPr id="15" name="Shape 13"/>
          <p:cNvSpPr/>
          <p:nvPr/>
        </p:nvSpPr>
        <p:spPr>
          <a:xfrm>
            <a:off x="320040" y="278892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16" name="Text 14"/>
          <p:cNvSpPr/>
          <p:nvPr/>
        </p:nvSpPr>
        <p:spPr>
          <a:xfrm>
            <a:off x="502920" y="2898648"/>
            <a:ext cx="5303520" cy="292608"/>
          </a:xfrm>
          <a:prstGeom prst="rect">
            <a:avLst/>
          </a:prstGeom>
          <a:noFill/>
          <a:ln/>
        </p:spPr>
        <p:txBody>
          <a:bodyPr wrap="square" rtlCol="0" anchor="ctr"/>
          <a:lstStyle/>
          <a:p>
            <a:pPr indent="0" marL="0">
              <a:buNone/>
            </a:pPr>
            <a:r>
              <a:rPr lang="en-US" sz="1400" b="1" dirty="0">
                <a:solidFill>
                  <a:srgbClr val="0F766E"/>
                </a:solidFill>
                <a:latin typeface="Calibri" pitchFamily="34" charset="0"/>
                <a:ea typeface="Calibri" pitchFamily="34" charset="-122"/>
                <a:cs typeface="Calibri" pitchFamily="34" charset="-120"/>
              </a:rPr>
              <a:t>AI / NPC Systems</a:t>
            </a:r>
            <a:endParaRPr lang="en-US" sz="1400" dirty="0"/>
          </a:p>
        </p:txBody>
      </p:sp>
      <p:sp>
        <p:nvSpPr>
          <p:cNvPr id="17" name="Text 15"/>
          <p:cNvSpPr/>
          <p:nvPr/>
        </p:nvSpPr>
        <p:spPr>
          <a:xfrm>
            <a:off x="502920" y="319125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Pathfinding &amp; state mutations</a:t>
            </a:r>
            <a:endParaRPr lang="en-US" sz="1100" dirty="0"/>
          </a:p>
        </p:txBody>
      </p:sp>
      <p:sp>
        <p:nvSpPr>
          <p:cNvPr id="18" name="Text 16"/>
          <p:cNvSpPr/>
          <p:nvPr/>
        </p:nvSpPr>
        <p:spPr>
          <a:xfrm>
            <a:off x="502920" y="341071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tick reads block offsets for spatial queries (entities_near is linear scan; replace with R-tree for &gt;1000 entities). Lighting propagator runs per tick via the same write path. Mutations fire every 5 ticks.</a:t>
            </a:r>
            <a:endParaRPr lang="en-US" sz="1000" dirty="0"/>
          </a:p>
        </p:txBody>
      </p:sp>
      <p:sp>
        <p:nvSpPr>
          <p:cNvPr id="19" name="Shape 17"/>
          <p:cNvSpPr/>
          <p:nvPr/>
        </p:nvSpPr>
        <p:spPr>
          <a:xfrm>
            <a:off x="457200" y="4215384"/>
            <a:ext cx="5394960" cy="274320"/>
          </a:xfrm>
          <a:prstGeom prst="roundRect">
            <a:avLst>
              <a:gd name="adj" fmla="val 16667"/>
            </a:avLst>
          </a:prstGeom>
          <a:solidFill>
            <a:srgbClr val="0F172A"/>
          </a:solidFill>
          <a:ln/>
        </p:spPr>
      </p:sp>
      <p:sp>
        <p:nvSpPr>
          <p:cNvPr id="20" name="Text 18"/>
          <p:cNvSpPr/>
          <p:nvPr/>
        </p:nvSpPr>
        <p:spPr>
          <a:xfrm>
            <a:off x="502920" y="421538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run_server.py  →  ai_tick()  →  write_block(offset, data)</a:t>
            </a:r>
            <a:endParaRPr lang="en-US" sz="900" dirty="0"/>
          </a:p>
        </p:txBody>
      </p:sp>
      <p:sp>
        <p:nvSpPr>
          <p:cNvPr id="21" name="Shape 19"/>
          <p:cNvSpPr/>
          <p:nvPr/>
        </p:nvSpPr>
        <p:spPr>
          <a:xfrm>
            <a:off x="6263640" y="278892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22" name="Text 20"/>
          <p:cNvSpPr/>
          <p:nvPr/>
        </p:nvSpPr>
        <p:spPr>
          <a:xfrm>
            <a:off x="6446520" y="2898648"/>
            <a:ext cx="5303520" cy="292608"/>
          </a:xfrm>
          <a:prstGeom prst="rect">
            <a:avLst/>
          </a:prstGeom>
          <a:noFill/>
          <a:ln/>
        </p:spPr>
        <p:txBody>
          <a:bodyPr wrap="square"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Replica Nodes</a:t>
            </a:r>
            <a:endParaRPr lang="en-US" sz="1400" dirty="0"/>
          </a:p>
        </p:txBody>
      </p:sp>
      <p:sp>
        <p:nvSpPr>
          <p:cNvPr id="23" name="Text 21"/>
          <p:cNvSpPr/>
          <p:nvPr/>
        </p:nvSpPr>
        <p:spPr>
          <a:xfrm>
            <a:off x="6446520" y="319125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Quorum-enforced durability</a:t>
            </a:r>
            <a:endParaRPr lang="en-US" sz="1100" dirty="0"/>
          </a:p>
        </p:txBody>
      </p:sp>
      <p:sp>
        <p:nvSpPr>
          <p:cNvPr id="24" name="Text 22"/>
          <p:cNvSpPr/>
          <p:nvPr/>
        </p:nvSpPr>
        <p:spPr>
          <a:xfrm>
            <a:off x="6446520" y="341071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Supply a sync_callback and recovery_callback to ReplicationManager. The engine fans writes to all healthy nodes, enforces required_replicas quorum, auto-marks nodes unhealthy after 3 failures. No network I/O built-in — wire in your own transport.</a:t>
            </a:r>
            <a:endParaRPr lang="en-US" sz="1000" dirty="0"/>
          </a:p>
        </p:txBody>
      </p:sp>
      <p:sp>
        <p:nvSpPr>
          <p:cNvPr id="25" name="Shape 23"/>
          <p:cNvSpPr/>
          <p:nvPr/>
        </p:nvSpPr>
        <p:spPr>
          <a:xfrm>
            <a:off x="6400800" y="4215384"/>
            <a:ext cx="5394960" cy="274320"/>
          </a:xfrm>
          <a:prstGeom prst="roundRect">
            <a:avLst>
              <a:gd name="adj" fmla="val 16667"/>
            </a:avLst>
          </a:prstGeom>
          <a:solidFill>
            <a:srgbClr val="0F172A"/>
          </a:solidFill>
          <a:ln/>
        </p:spPr>
      </p:sp>
      <p:sp>
        <p:nvSpPr>
          <p:cNvPr id="26" name="Text 24"/>
          <p:cNvSpPr/>
          <p:nvPr/>
        </p:nvSpPr>
        <p:spPr>
          <a:xfrm>
            <a:off x="6446520" y="421538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ReplicationManager(sync_callback=my_sync, required_replicas=2)</a:t>
            </a:r>
            <a:endParaRPr lang="en-US" sz="900" dirty="0"/>
          </a:p>
        </p:txBody>
      </p:sp>
      <p:sp>
        <p:nvSpPr>
          <p:cNvPr id="27" name="Shape 25"/>
          <p:cNvSpPr/>
          <p:nvPr/>
        </p:nvSpPr>
        <p:spPr>
          <a:xfrm>
            <a:off x="320040" y="475488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28" name="Text 26"/>
          <p:cNvSpPr/>
          <p:nvPr/>
        </p:nvSpPr>
        <p:spPr>
          <a:xfrm>
            <a:off x="502920" y="4864608"/>
            <a:ext cx="5303520" cy="292608"/>
          </a:xfrm>
          <a:prstGeom prst="rect">
            <a:avLst/>
          </a:prstGeom>
          <a:noFill/>
          <a:ln/>
        </p:spPr>
        <p:txBody>
          <a:bodyPr wrap="square" rtlCol="0" anchor="ctr"/>
          <a:lstStyle/>
          <a:p>
            <a:pPr indent="0" marL="0">
              <a:buNone/>
            </a:pPr>
            <a:r>
              <a:rPr lang="en-US" sz="1400" b="1" dirty="0">
                <a:solidFill>
                  <a:srgbClr val="1D4ED8"/>
                </a:solidFill>
                <a:latin typeface="Calibri" pitchFamily="34" charset="0"/>
                <a:ea typeface="Calibri" pitchFamily="34" charset="-122"/>
                <a:cs typeface="Calibri" pitchFamily="34" charset="-120"/>
              </a:rPr>
              <a:t>Cloud Block Storage</a:t>
            </a:r>
            <a:endParaRPr lang="en-US" sz="1400" dirty="0"/>
          </a:p>
        </p:txBody>
      </p:sp>
      <p:sp>
        <p:nvSpPr>
          <p:cNvPr id="29" name="Text 27"/>
          <p:cNvSpPr/>
          <p:nvPr/>
        </p:nvSpPr>
        <p:spPr>
          <a:xfrm>
            <a:off x="502920" y="515721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Hardware-agnostic target</a:t>
            </a:r>
            <a:endParaRPr lang="en-US" sz="1100" dirty="0"/>
          </a:p>
        </p:txBody>
      </p:sp>
      <p:sp>
        <p:nvSpPr>
          <p:cNvPr id="30" name="Text 28"/>
          <p:cNvSpPr/>
          <p:nvPr/>
        </p:nvSpPr>
        <p:spPr>
          <a:xfrm>
            <a:off x="502920" y="537667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The storage layer has no opinion on the underlying device. Point world.db and world_render.db at cloud-backed block volumes (EBS, GCS, Azure Disk). Same flat image semantics. Placing A and B on separate physical volumes is the intended production config.</a:t>
            </a:r>
            <a:endParaRPr lang="en-US" sz="1000" dirty="0"/>
          </a:p>
        </p:txBody>
      </p:sp>
      <p:sp>
        <p:nvSpPr>
          <p:cNvPr id="31" name="Shape 29"/>
          <p:cNvSpPr/>
          <p:nvPr/>
        </p:nvSpPr>
        <p:spPr>
          <a:xfrm>
            <a:off x="457200" y="6181344"/>
            <a:ext cx="5394960" cy="274320"/>
          </a:xfrm>
          <a:prstGeom prst="roundRect">
            <a:avLst>
              <a:gd name="adj" fmla="val 16667"/>
            </a:avLst>
          </a:prstGeom>
          <a:solidFill>
            <a:srgbClr val="0F172A"/>
          </a:solidFill>
          <a:ln/>
        </p:spPr>
      </p:sp>
      <p:sp>
        <p:nvSpPr>
          <p:cNvPr id="32" name="Text 30"/>
          <p:cNvSpPr/>
          <p:nvPr/>
        </p:nvSpPr>
        <p:spPr>
          <a:xfrm>
            <a:off x="502920" y="618134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SparseBlockStore('s3-backed-volume/world.db', max_blocks=…)</a:t>
            </a:r>
            <a:endParaRPr lang="en-US" sz="900" dirty="0"/>
          </a:p>
        </p:txBody>
      </p:sp>
      <p:sp>
        <p:nvSpPr>
          <p:cNvPr id="33" name="Shape 31"/>
          <p:cNvSpPr/>
          <p:nvPr/>
        </p:nvSpPr>
        <p:spPr>
          <a:xfrm>
            <a:off x="6263640" y="4754880"/>
            <a:ext cx="5669280" cy="1828800"/>
          </a:xfrm>
          <a:prstGeom prst="roundRect">
            <a:avLst>
              <a:gd name="adj" fmla="val 5000"/>
            </a:avLst>
          </a:prstGeom>
          <a:solidFill>
            <a:srgbClr val="1E293B"/>
          </a:solidFill>
          <a:ln/>
          <a:effectLst>
            <a:outerShdw sx="100000" sy="100000" kx="0" ky="0" algn="bl" rotWithShape="0" blurRad="76200" dist="25400" dir="2700000">
              <a:srgbClr val="000000">
                <a:alpha val="15000"/>
              </a:srgbClr>
            </a:outerShdw>
          </a:effectLst>
        </p:spPr>
      </p:sp>
      <p:sp>
        <p:nvSpPr>
          <p:cNvPr id="34" name="Text 32"/>
          <p:cNvSpPr/>
          <p:nvPr/>
        </p:nvSpPr>
        <p:spPr>
          <a:xfrm>
            <a:off x="6446520" y="4864608"/>
            <a:ext cx="5303520" cy="292608"/>
          </a:xfrm>
          <a:prstGeom prst="rect">
            <a:avLst/>
          </a:prstGeom>
          <a:noFill/>
          <a:ln/>
        </p:spPr>
        <p:txBody>
          <a:bodyPr wrap="square" rtlCol="0" anchor="ctr"/>
          <a:lstStyle/>
          <a:p>
            <a:pPr indent="0" marL="0">
              <a:buNone/>
            </a:pPr>
            <a:r>
              <a:rPr lang="en-US" sz="1400" b="1" dirty="0">
                <a:solidFill>
                  <a:srgbClr val="9F1239"/>
                </a:solidFill>
                <a:latin typeface="Calibri" pitchFamily="34" charset="0"/>
                <a:ea typeface="Calibri" pitchFamily="34" charset="-122"/>
                <a:cs typeface="Calibri" pitchFamily="34" charset="-120"/>
              </a:rPr>
              <a:t>Health Monitor</a:t>
            </a:r>
            <a:endParaRPr lang="en-US" sz="1400" dirty="0"/>
          </a:p>
        </p:txBody>
      </p:sp>
      <p:sp>
        <p:nvSpPr>
          <p:cNvPr id="35" name="Text 33"/>
          <p:cNvSpPr/>
          <p:nvPr/>
        </p:nvSpPr>
        <p:spPr>
          <a:xfrm>
            <a:off x="6446520" y="5157216"/>
            <a:ext cx="5303520" cy="201168"/>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Observability &amp; integrity</a:t>
            </a:r>
            <a:endParaRPr lang="en-US" sz="1100" dirty="0"/>
          </a:p>
        </p:txBody>
      </p:sp>
      <p:sp>
        <p:nvSpPr>
          <p:cNvPr id="36" name="Text 34"/>
          <p:cNvSpPr/>
          <p:nvPr/>
        </p:nvSpPr>
        <p:spPr>
          <a:xfrm>
            <a:off x="6446520" y="5376672"/>
            <a:ext cx="5303520" cy="77724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health_report() returns per-node and aggregate snapshots. verify_integrity() is a generator-based paginated scan using a dedicated read-only connection — never blocks live I/O. Array A vs B write_seq lag printed every 2 seconds.</a:t>
            </a:r>
            <a:endParaRPr lang="en-US" sz="1000" dirty="0"/>
          </a:p>
        </p:txBody>
      </p:sp>
      <p:sp>
        <p:nvSpPr>
          <p:cNvPr id="37" name="Shape 35"/>
          <p:cNvSpPr/>
          <p:nvPr/>
        </p:nvSpPr>
        <p:spPr>
          <a:xfrm>
            <a:off x="6400800" y="6181344"/>
            <a:ext cx="5394960" cy="274320"/>
          </a:xfrm>
          <a:prstGeom prst="roundRect">
            <a:avLst>
              <a:gd name="adj" fmla="val 16667"/>
            </a:avLst>
          </a:prstGeom>
          <a:solidFill>
            <a:srgbClr val="0F172A"/>
          </a:solidFill>
          <a:ln/>
        </p:spPr>
      </p:sp>
      <p:sp>
        <p:nvSpPr>
          <p:cNvPr id="38" name="Text 36"/>
          <p:cNvSpPr/>
          <p:nvPr/>
        </p:nvSpPr>
        <p:spPr>
          <a:xfrm>
            <a:off x="6446520" y="6181344"/>
            <a:ext cx="5349240" cy="274320"/>
          </a:xfrm>
          <a:prstGeom prst="rect">
            <a:avLst/>
          </a:prstGeom>
          <a:noFill/>
          <a:ln/>
        </p:spPr>
        <p:txBody>
          <a:bodyPr wrap="square" rtlCol="0" anchor="ctr"/>
          <a:lstStyle/>
          <a:p>
            <a:pPr indent="0" marL="0">
              <a:buNone/>
            </a:pPr>
            <a:r>
              <a:rPr lang="en-US" sz="900" dirty="0">
                <a:solidFill>
                  <a:srgbClr val="4ADE80"/>
                </a:solidFill>
                <a:latin typeface="Courier New" pitchFamily="34" charset="0"/>
                <a:ea typeface="Courier New" pitchFamily="34" charset="-122"/>
                <a:cs typeface="Courier New" pitchFamily="34" charset="-120"/>
              </a:rPr>
              <a:t>rm.health_report()  /  store.verify_integrity()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Block-Image Game Engine Architecture</dc:title>
  <dc:subject>PptxGenJS Presentation</dc:subject>
  <dc:creator>PptxGenJS</dc:creator>
  <cp:lastModifiedBy>PptxGenJS</cp:lastModifiedBy>
  <cp:revision>1</cp:revision>
  <dcterms:created xsi:type="dcterms:W3CDTF">2026-06-21T07:18:09Z</dcterms:created>
  <dcterms:modified xsi:type="dcterms:W3CDTF">2026-06-21T07:18:09Z</dcterms:modified>
</cp:coreProperties>
</file>